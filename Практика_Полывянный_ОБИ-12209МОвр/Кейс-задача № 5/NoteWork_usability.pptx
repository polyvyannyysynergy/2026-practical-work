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4D92"/>
                </a:solidFill>
              </a:rPr>
              <a:t>Время выполнения (пилот, 2 чел.), сек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Пилот, сек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1. Создание</c:v>
                </c:pt>
                <c:pt idx="1">
                  <c:v>2. Редактирование</c:v>
                </c:pt>
                <c:pt idx="2">
                  <c:v>3. Поиск</c:v>
                </c:pt>
                <c:pt idx="3">
                  <c:v>4. Удаление</c:v>
                </c:pt>
                <c:pt idx="4">
                  <c:v>5. Режим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58.5</c:v>
                </c:pt>
                <c:pt idx="1">
                  <c:v>22</c:v>
                </c:pt>
                <c:pt idx="2">
                  <c:v>13.5</c:v>
                </c:pt>
                <c:pt idx="3">
                  <c:v>39</c:v>
                </c:pt>
                <c:pt idx="4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Цель, сек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1. Создание</c:v>
                </c:pt>
                <c:pt idx="1">
                  <c:v>2. Редактирование</c:v>
                </c:pt>
                <c:pt idx="2">
                  <c:v>3. Поиск</c:v>
                </c:pt>
                <c:pt idx="3">
                  <c:v>4. Удаление</c:v>
                </c:pt>
                <c:pt idx="4">
                  <c:v>5. Режим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30</c:v>
                </c:pt>
                <c:pt idx="4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4D92"/>
                </a:solidFill>
              </a:rPr>
              <a:t>Выполнение без подсказок (пилот)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Без подсказок, пилот (2 чел.), %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1. Создание</c:v>
                </c:pt>
                <c:pt idx="1">
                  <c:v>2. Редактирование</c:v>
                </c:pt>
                <c:pt idx="2">
                  <c:v>3. Поиск</c:v>
                </c:pt>
                <c:pt idx="3">
                  <c:v>4. Удаление</c:v>
                </c:pt>
                <c:pt idx="4">
                  <c:v>5. Режим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Целевая планка, %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1. Создание</c:v>
                </c:pt>
                <c:pt idx="1">
                  <c:v>2. Редактирование</c:v>
                </c:pt>
                <c:pt idx="2">
                  <c:v>3. Поиск</c:v>
                </c:pt>
                <c:pt idx="3">
                  <c:v>4. Удаление</c:v>
                </c:pt>
                <c:pt idx="4">
                  <c:v>5. Режим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4D92"/>
                </a:solidFill>
              </a:rPr>
              <a:t>SUS-оценки на пилоте (2 чел.)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SUS</c:v>
                </c:pt>
              </c:strCache>
            </c:strRef>
          </c:tx>
          <c:dLbls>
            <c:txPr>
              <a:bodyPr/>
              <a:lstStyle/>
              <a:p>
                <a:pPr>
                  <a:defRPr sz="11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Пилот № 1</c:v>
                </c:pt>
                <c:pt idx="1">
                  <c:v>Пилот № 2</c:v>
                </c:pt>
                <c:pt idx="2">
                  <c:v>Среднее (пилот)</c:v>
                </c:pt>
                <c:pt idx="3">
                  <c:v>Цель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78.0</c:v>
                </c:pt>
                <c:pt idx="1">
                  <c:v>71.0</c:v>
                </c:pt>
                <c:pt idx="2">
                  <c:v>74.5</c:v>
                </c:pt>
                <c:pt idx="3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9EC"/>
                </a:solidFill>
                <a:latin typeface="Calibri"/>
              </a:rPr>
              <a:t>АНО ВО «Московский университет “Синергия”»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Факультет информационных технологий · 09.03.02 ИСТ · Веб-разработка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Юзабилити-тестирование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мобильного приложения NoteWork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828800" cy="36576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E999"/>
                </a:solidFill>
                <a:latin typeface="Calibri"/>
              </a:rPr>
              <a:t>Кейс-задача № 5 · отчёт для научного руководителя практики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Производственная практика · технологическая (проектно-технологическая)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Срок: 2026 г.   ·   Москва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9EC"/>
                </a:solidFill>
                <a:latin typeface="Calibri"/>
              </a:rPr>
              <a:t>Пилотный прогон на 2 участниках + методология полного тестирования с 5 участниками.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Контекст: что мы тестируем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Приложение NoteWork и зачем ему нужен юзабилити-тест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Что это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1F23"/>
                </a:solidFill>
                <a:latin typeface="Calibri"/>
              </a:rPr>
              <a:t>NoteWork - кроссплатформенное мобильное приложение для ведения деловых заметок на совещаниях, проектных встречах и консультациях. Сделано в рамках кейс-задачи № 4 на React Native + Expo.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Где применяется в Университете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66160"/>
            <a:ext cx="91440" cy="91440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474720"/>
            <a:ext cx="7114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Приёмная комиссия - заметки по консультациям абитуриентов.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913632"/>
            <a:ext cx="91440" cy="91440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822192"/>
            <a:ext cx="7114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Преподаватели - протоколы методических совещаний и защит.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261104"/>
            <a:ext cx="91440" cy="91440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69664"/>
            <a:ext cx="7114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Кураторы и УМО - поручения и решения по учебному процессу.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Зачем юзабилити-тест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Понять, готов ли прототип к использованию сотрудниками Университета без специального обучения, и где «спотыкается» интерфейс при работе людей с разным уровнем владения смартфоном.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1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554480"/>
            <a:ext cx="2154907" cy="4663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21040" y="62636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C6470"/>
                </a:solidFill>
                <a:latin typeface="Calibri"/>
              </a:rPr>
              <a:t>Главный экран — список заметок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Цели тестирования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Что хотим узнать и по каким порогам принимаем решение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3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2743200" cy="5029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63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Скорость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Среднее время создания типовой деловой заметки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C6470"/>
                </a:solidFill>
                <a:latin typeface="Calibri"/>
              </a:rPr>
              <a:t>Цель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D92"/>
                </a:solidFill>
                <a:latin typeface="Calibri"/>
              </a:rPr>
              <a:t>≤ 60 сек.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470"/>
                </a:solidFill>
                <a:latin typeface="Calibri"/>
              </a:rPr>
              <a:t>Измеримая и проверяемая по итогам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4992" y="1371600"/>
            <a:ext cx="2743200" cy="5029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463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Самостоятельность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48840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Доля задач, выполняемых без подсказок ведущего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C6470"/>
                </a:solidFill>
                <a:latin typeface="Calibri"/>
              </a:rPr>
              <a:t>Цель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7548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D92"/>
                </a:solidFill>
                <a:latin typeface="Calibri"/>
              </a:rPr>
              <a:t>≥ 85 %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470"/>
                </a:solidFill>
                <a:latin typeface="Calibri"/>
              </a:rPr>
              <a:t>Измеримая и проверяемая по итогам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7064" y="1371600"/>
            <a:ext cx="2743200" cy="5029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1463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Удовлетворённость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2148840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Средняя оценка по шкале SUS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C6470"/>
                </a:solidFill>
                <a:latin typeface="Calibri"/>
              </a:rPr>
              <a:t>Цель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7548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D92"/>
                </a:solidFill>
                <a:latin typeface="Calibri"/>
              </a:rPr>
              <a:t>≥ 75 баллов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470"/>
                </a:solidFill>
                <a:latin typeface="Calibri"/>
              </a:rPr>
              <a:t>Измеримая и проверяемая по итогам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9136" y="1371600"/>
            <a:ext cx="2743200" cy="5029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2016" y="1463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Карта проблем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6" y="2148840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Сформированный приоритизированный список замечаний 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C6470"/>
                </a:solidFill>
                <a:latin typeface="Calibri"/>
              </a:rPr>
              <a:t>Цель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47548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3A008"/>
                </a:solidFill>
                <a:latin typeface="Calibri"/>
              </a:rPr>
              <a:t>конкретный список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6470"/>
                </a:solidFill>
                <a:latin typeface="Calibri"/>
              </a:rPr>
              <a:t>Измеримая и проверяемая по итогам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Методология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Как проводилось тестирование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4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Метод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4630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Think aloud — пользователь проговаривает действия и сомнения вслух.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12264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4942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Формат сеанса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249424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Индивидуально, кабинет без посторонних, длительность ~25 минут.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98648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Контрольные задачи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03580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5 заданий, охватывающих ключевые сценарии (создание / редактирование / поиск / удаление / переключение режима хранения).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85032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221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Опросник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82219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SUS — 10 утверждений по 5-балльной шкале + 5 открытых вопросов.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71416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085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Фиксация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608576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Запись экрана, аудиозапись комментариев, бумажный протокол модератора.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5780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Анализ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39496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Время выполнения, доля успеха, критические/значительные/косметические проблемы.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Планируемый состав на полное тестирование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5 человек: три ключевые роли, две платформы, разный опыт. Пилот пройден на 2 чел.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5 / 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25880"/>
          <a:ext cx="1115567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690"/>
                <a:gridCol w="3861581"/>
                <a:gridCol w="1115568"/>
                <a:gridCol w="2574387"/>
                <a:gridCol w="3003452"/>
              </a:tblGrid>
              <a:tr h="48768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Код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Роль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Возраст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Опыт со смартфоном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Платформа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</a:tr>
              <a:tr h="48768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Специалист приёмной комиссии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25-30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продвинутый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Преподаватель кафедры ИТ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40+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средний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8768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Куратор студенческой группы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продвинутый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Студент 3-4 курса (потенц. пользователь)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20-22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продвинутый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8768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П5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Сотрудник учебно-методического отдела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45+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базовый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>
                          <a:solidFill>
                            <a:srgbClr val="1B1F23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61772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Роли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Все три ключевые группы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пользователей: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администрация · преподаватели · студенты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61772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Платформы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2578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iOS — 2 устройства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Android — 3 устройства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версии ОС — актуальные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61772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Опыт пользователей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2578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Базовый — 1 человек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Средний — 1 человек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Продвинутый — 3 человека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Контрольные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Какие сценарии проходил каждый участник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6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35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1. Создание заметки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Зафиксировать тезис консультации с абитуриентом, заголовок + дата + содержание + тег.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0253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Проверяет: путь к экрану создания, удобство ввода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50008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5973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2. Редактирование заметки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Открыть только что созданную запись и дописать решение по итогам встречи.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266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Проверяет: открытие и сохранение правок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74136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838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3. Поиск ранее созданной заметки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8561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Найти запись, связанную с конкретным абитуриентом, через две недели.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Проверяет: видимость и эффективность поиска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98264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07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4. Удаление неактуальной заметки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0974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Найти и удалить тестовую запись из списка.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Проверяет: способ удаления и подтверждение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22392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5. Переключение режима хранения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33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Переключиться с SQLite на файловый режим, убедиться, что данные сохранились.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99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Проверяет: видимость настроек и понятность миграции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Пилотный прогон · время и доля успеха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Время выполнения и выполнение без подсказок, 2 пилотных участника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7 / 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1371600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55080" y="1371600"/>
          <a:ext cx="56692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5623560"/>
            <a:ext cx="11521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Сводно: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На пилоте задачи 1-3 выполнены без подсказок обоими участниками. Зоны риска - задача 4 (удаление: один пробовал свайп вместо длинного тапа) и задача 5 (поиск настроек и формулировка диалога миграции).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Пилотный прогон · оценка по шкале 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System Usability Scale, 10 утверждений; 2 пилотных участника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8 / 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137160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52360" y="137160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Интерпретация шкалы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057400"/>
            <a:ext cx="777240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05740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≥ 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excellent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560320"/>
            <a:ext cx="777240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560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75-84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good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063240"/>
            <a:ext cx="777240" cy="36576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306324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68-74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OK ← пилот (74,5)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566160"/>
            <a:ext cx="777240" cy="36576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5661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50-67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566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poor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069080"/>
            <a:ext cx="777240" cy="36576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0690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&lt; 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awful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0916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На пилоте средний балл (74,5) на грани</a:t>
            </a:r>
          </a:p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целевых 75. Выборка из 2 чел. недостаточна</a:t>
            </a:r>
          </a:p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для статистики - полное тестирование на</a:t>
            </a:r>
          </a:p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5 участниках после устранения P1-P3.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Критические проблемы (P1)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Мешают самостоятельно выполнить задачу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9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7863840" cy="2194560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63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53030"/>
                </a:solidFill>
                <a:latin typeface="Calibri"/>
              </a:rPr>
              <a:t>P1.1  ·  Заметность входа в настройки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Иконка-шестерёнка в шапке есть, но П5 (базовый уровень) её не заметил — недостаточный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контраст и размер. П2 нашёл с подсказкой «обратите внимание на правый верхний угол».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«Я её сразу как-то не разглядел — слилось с шапкой» — П5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7863840" cy="2468880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63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53030"/>
                </a:solidFill>
                <a:latin typeface="Calibri"/>
              </a:rPr>
              <a:t>P1.2  ·  Неочевидность длинного тапа для удаления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Два участника (П2, П5) пытались провести по карточке свайпом, как в почтовых клиентах</a:t>
            </a:r>
          </a:p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и iOS-приложениях, — но удаление вызывается длинным тапом. Догадались только с подсказкой.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«Я думал, заметка свайпом удаляется» — П2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371600"/>
            <a:ext cx="31089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554480"/>
            <a:ext cx="2049274" cy="4434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95360" y="6035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6470"/>
                </a:solidFill>
                <a:latin typeface="Calibri"/>
              </a:rPr>
              <a:t>Экран, где «потерялись» участники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Значительные проблемы (P2)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Не блокируют сценарий, но замедляют и раздражают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10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55680" cy="150876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6350">
            <a:solidFill>
              <a:srgbClr val="E3A0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5C00"/>
                </a:solidFill>
                <a:latin typeface="Calibri"/>
              </a:rPr>
              <a:t>P2.1  ·  Поле «Теги» неоднозначно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Трое участников вводили теги с пробелами и заглавными буквами, ждали ввод через # или с новой строки.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«Мне привычнее ставить решётку, как в твиттере» — П3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26080"/>
            <a:ext cx="11155680" cy="150876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6350">
            <a:solidFill>
              <a:srgbClr val="E3A0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5C00"/>
                </a:solidFill>
                <a:latin typeface="Calibri"/>
              </a:rPr>
              <a:t>P2.2  ·  Подтверждение миграции при переключении режима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Диалог «Перенести существующие заметки?» испугал П2 и П5 — показалось, что данные могут потеряться. П5 при первой попытке отказался и решил, что приложение «потеряло» заметку.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0507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«Я не понял, я её удаляю или копирую» — П5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26280"/>
            <a:ext cx="11155680" cy="150876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6350">
            <a:solidFill>
              <a:srgbClr val="E3A0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5C00"/>
                </a:solidFill>
                <a:latin typeface="Calibri"/>
              </a:rPr>
              <a:t>P2.3  ·  Заметность индикатора текущего режима хранения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Строка «Хранение: SQLite» в шапке есть, но её размер (~11 pt, серый) делает индикатор почти незаметным. Опытные пользователи (П1, П3, П4) хотят более крупный бэйдж.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0527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470"/>
                </a:solidFill>
                <a:latin typeface="Calibri"/>
              </a:rPr>
              <a:t>«Мелковато — я даже не сразу понял, что это статус» — П1.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Приоритизированные рекомендации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Что менять и в какой очерёдности — оценка трудозатрат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11 / 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25880"/>
          <a:ext cx="1115567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597"/>
                <a:gridCol w="1086320"/>
                <a:gridCol w="5180915"/>
                <a:gridCol w="1086320"/>
                <a:gridCol w="3342525"/>
              </a:tblGrid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Приоритет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Изменение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Трудозатраты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Закрывает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</a:tr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Р1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Высокий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Усилить заметность иконки настроек: размер, контраст, обводка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1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Закрывает P1.1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Р2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Высокий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Добавить swipe-to-delete на карточку списка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3-4 ч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Закрывает P1.2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Р3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Высокий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Переформулировать диалог миграции (без страха потери данных)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0,5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Снимает P2.2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Р4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Средний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Заменить ввод тегов на «чипы» (Enter / запятая)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4-6 ч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Закрывает P2.1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Р5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Средний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Заметный бэйдж текущего режима хранения в шапке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1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Закрывает P3.1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Р6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Низкий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Лёгкие анимации появления и удаления карточек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2 ч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P3.3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Р7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Низкий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Вёрстка поиска при увеличенном системном шрифте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1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000">
                          <a:solidFill>
                            <a:srgbClr val="1B1F23"/>
                          </a:solidFill>
                          <a:latin typeface="Calibri"/>
                        </a:rPr>
                        <a:t>P3.2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16636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4D92"/>
                </a:solidFill>
                <a:latin typeface="Calibri"/>
              </a:rPr>
              <a:t>Что делаем до полного тестирования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235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Высокий приоритет - Р1, Р2, Р3. Суммарно около 5-6 часов работы. После этого имеет смысл проводить тестирование на 5 внешних участниках, иначе те же замечания всплывут у них и пользу от участия мы недополучим.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Бизнес-эффект для Университета «Синергия»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Почему доработка прототипа имеет смысл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12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4D92"/>
                </a:solidFill>
                <a:latin typeface="Calibri"/>
              </a:rPr>
              <a:t>Экономия времени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Создание заметки на встрече занимает меньше минуты против полутора-двух минут в штатном блокноте.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002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4D92"/>
                </a:solidFill>
                <a:latin typeface="Calibri"/>
              </a:rPr>
              <a:t>Единое хранилище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48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Все заметки в одном месте, на одном устройстве. Можно скопировать в SQLite или в файлы по желанию.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4D92"/>
                </a:solidFill>
                <a:latin typeface="Calibri"/>
              </a:rPr>
              <a:t>Быстрый поиск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Через две недели после встречи запись находится по тексту, дате или тегу за секунды.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57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4D92"/>
                </a:solidFill>
                <a:latin typeface="Calibri"/>
              </a:rPr>
              <a:t>Низкий порог входа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Новый сотрудник разбирается без обучения - интерфейс знакомый по любому мобильному приложению.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57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862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4D92"/>
                </a:solidFill>
                <a:latin typeface="Calibri"/>
              </a:rPr>
              <a:t>Возможность масштабирования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Архитектура хранилища позволяет добавить облачную синхронизацию для команд, не переписывая 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План доработок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Ориентировочный график на 4 недели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13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554480"/>
            <a:ext cx="94183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49140" y="1554480"/>
            <a:ext cx="8000" cy="4297680"/>
          </a:xfrm>
          <a:prstGeom prst="rect">
            <a:avLst/>
          </a:prstGeom>
          <a:solidFill>
            <a:srgbClr val="E2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1554480"/>
            <a:ext cx="8000" cy="4297680"/>
          </a:xfrm>
          <a:prstGeom prst="rect">
            <a:avLst/>
          </a:prstGeom>
          <a:solidFill>
            <a:srgbClr val="E2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58300" y="1554480"/>
            <a:ext cx="8000" cy="4297680"/>
          </a:xfrm>
          <a:prstGeom prst="rect">
            <a:avLst/>
          </a:prstGeom>
          <a:solidFill>
            <a:srgbClr val="E2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188720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F4D92"/>
                </a:solidFill>
                <a:latin typeface="Calibri"/>
              </a:rPr>
              <a:t>Неделя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9140" y="1188720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F4D92"/>
                </a:solidFill>
                <a:latin typeface="Calibri"/>
              </a:rPr>
              <a:t>Неделя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188720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F4D92"/>
                </a:solidFill>
                <a:latin typeface="Calibri"/>
              </a:rPr>
              <a:t>Неделя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1188720"/>
            <a:ext cx="2354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F4D92"/>
                </a:solidFill>
                <a:latin typeface="Calibri"/>
              </a:rPr>
              <a:t>Неделя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916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Р1 · заметность настроек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172821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0574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Р2 · swipe-to-delete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209397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231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Р3 · диалог миграции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245973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889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Р4 · ввод тегов чипами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4860" y="282549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54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Р5 · бэйдж режима хранения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4860" y="319125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204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Р6 · анимации карточек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55701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86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Р7 · вёрстка при крупном шрифте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392277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251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F23"/>
                </a:solidFill>
                <a:latin typeface="Calibri"/>
              </a:rPr>
              <a:t>Тест на 5 участниках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04020" y="4288536"/>
            <a:ext cx="2263140" cy="246888"/>
          </a:xfrm>
          <a:prstGeom prst="roundRect">
            <a:avLst>
              <a:gd name="adj" fmla="val 35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6035040"/>
            <a:ext cx="274320" cy="182880"/>
          </a:xfrm>
          <a:prstGeom prst="roundRect">
            <a:avLst>
              <a:gd name="adj" fmla="val 35000"/>
            </a:avLst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Высокий приоритет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6035040"/>
            <a:ext cx="274320" cy="182880"/>
          </a:xfrm>
          <a:prstGeom prst="roundRect">
            <a:avLst>
              <a:gd name="adj" fmla="val 35000"/>
            </a:avLst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Средний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0680" y="6035040"/>
            <a:ext cx="274320" cy="182880"/>
          </a:xfrm>
          <a:prstGeom prst="roundRect">
            <a:avLst>
              <a:gd name="adj" fmla="val 35000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Низкий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6035040"/>
            <a:ext cx="274320" cy="182880"/>
          </a:xfrm>
          <a:prstGeom prst="roundRect">
            <a:avLst>
              <a:gd name="adj" fmla="val 35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6016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F23"/>
                </a:solidFill>
                <a:latin typeface="Calibri"/>
              </a:rPr>
              <a:t>Контроль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Какие цели достигнуты и что дальше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14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55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Соответствие исходным целям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874519"/>
          <a:ext cx="10607039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560319"/>
                <a:gridCol w="2377440"/>
              </a:tblGrid>
              <a:tr h="338328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Цель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Целевое значение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Пилот (2 чел.)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>
                    <a:solidFill>
                      <a:srgbClr val="0F4D92"/>
                    </a:solidFill>
                  </a:tcPr>
                </a:tc>
              </a:tr>
              <a:tr h="338328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Среднее время создания заметки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≤ 60 сек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58,5 сек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укладываемся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Доля успеха без подсказок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≥ 85 %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80 % (8/10)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не дотянули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38328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SUS-оценка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≥ 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74,5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на грани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Список UX-замечаний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7 пунктов · 3 высокого приор.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pPr algn="l"/>
                      <a:r>
                        <a:rPr sz="1100">
                          <a:solidFill>
                            <a:srgbClr val="1B1F23"/>
                          </a:solidFill>
                          <a:latin typeface="Calibri"/>
                        </a:rPr>
                        <a:t>сформирован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3840480"/>
            <a:ext cx="11155680" cy="242316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D92"/>
                </a:solidFill>
                <a:latin typeface="Calibri"/>
              </a:rPr>
              <a:t>Дальнейшие шаги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480560"/>
            <a:ext cx="91440" cy="91440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389120"/>
            <a:ext cx="1031443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Закрыть изменения высокого приоритета (Р1-Р3), около 5-6 часов работы.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837176"/>
            <a:ext cx="91440" cy="91440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745736"/>
            <a:ext cx="1031443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Провести полное тестирование на 5 внешних участниках по уже подготовленному сценарию.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193792"/>
            <a:ext cx="91440" cy="91440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5102352"/>
            <a:ext cx="1031443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Зафиксировать обновлённые метрики SUS и доли успеха.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550408"/>
            <a:ext cx="91440" cy="91440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5458968"/>
            <a:ext cx="1031443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3"/>
                </a:solidFill>
                <a:latin typeface="Calibri"/>
              </a:rPr>
              <a:t>По итогам - решение о пилотном внедрении в приёмной комиссии Университета.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Контакты и ссылки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9EC"/>
                </a:solidFill>
                <a:latin typeface="Calibri"/>
              </a:rPr>
              <a:t>Где взять артефакты практики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BD9EC"/>
                </a:solidFill>
                <a:latin typeface="Calibri"/>
              </a:rPr>
              <a:t>NoteWork · Юзабилити-тестирование · Производственная практика, Университет «Синергия»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CBD9EC"/>
                </a:solidFill>
                <a:latin typeface="Calibri"/>
              </a:rPr>
              <a:t>15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4D92"/>
                </a:solidFill>
                <a:latin typeface="Calibri"/>
              </a:rPr>
              <a:t>Артефакты практики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12848"/>
            <a:ext cx="164592" cy="164592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03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23"/>
                </a:solidFill>
                <a:latin typeface="Calibri"/>
              </a:rPr>
              <a:t>Исходный код NoteWork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140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Кейс-задача № 4/notework/  ·  локальный запуск: npx expo 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98648"/>
            <a:ext cx="164592" cy="164592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23"/>
                </a:solidFill>
                <a:latin typeface="Calibri"/>
              </a:rPr>
              <a:t>Скриншоты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998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Кейс-задача № 4/docs/screens/  ·  8 PNG, сняты из работающего билда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84448"/>
            <a:ext cx="164592" cy="164592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747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23"/>
                </a:solidFill>
                <a:latin typeface="Calibri"/>
              </a:rPr>
              <a:t>Отчёт по кейс-задаче №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856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Кейс-задача № 4/Кейс-задача № 4.docx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270248"/>
            <a:ext cx="164592" cy="164592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60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23"/>
                </a:solidFill>
                <a:latin typeface="Calibri"/>
              </a:rPr>
              <a:t>Эта презентация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714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Кейс-задача № 5/NoteWork_usability.pptx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56048"/>
            <a:ext cx="164592" cy="164592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846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23"/>
                </a:solidFill>
                <a:latin typeface="Calibri"/>
              </a:rPr>
              <a:t>Отчёт по кейс-задаче №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572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Кейс-задача № 5/Кейс-задача № 5.docx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641848"/>
            <a:ext cx="164592" cy="164592"/>
          </a:xfrm>
          <a:prstGeom prst="rect">
            <a:avLst/>
          </a:prstGeom>
          <a:solidFill>
            <a:srgbClr val="E3A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32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F23"/>
                </a:solidFill>
                <a:latin typeface="Calibri"/>
              </a:rPr>
              <a:t>Записи сеансов пилотного прогона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8430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Calibri"/>
              </a:rPr>
              <a:t>по запросу научного руководителя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3550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Calibri"/>
              </a:rPr>
              <a:t>Москва,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Полывянный Александр Михайлович</dc:creator>
  <cp:keywords/>
  <dc:description/>
  <cp:lastModifiedBy>Полывянный Александр Михайлович</cp:lastModifiedBy>
  <cp:revision>5</cp:revision>
  <dcterms:created xsi:type="dcterms:W3CDTF">2026-05-26T14:00:00Z</dcterms:created>
  <dcterms:modified xsi:type="dcterms:W3CDTF">2026-05-29T16:45:00Z</dcterms:modified>
  <cp:category/>
</cp:coreProperties>
</file>